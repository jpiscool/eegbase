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228600"/>
            <a:ext cx="6400800" cy="6400800"/>
          </a:xfrm>
          <a:prstGeom prst="ellipse">
            <a:avLst/>
          </a:prstGeom>
          <a:solidFill>
            <a:srgbClr val="0F172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1143000"/>
            <a:ext cx="4572000" cy="4572000"/>
          </a:xfrm>
          <a:prstGeom prst="ellipse">
            <a:avLst/>
          </a:prstGeom>
          <a:solidFill>
            <a:srgbClr val="0F172A"/>
          </a:solidFill>
          <a:ln w="16510">
            <a:solidFill>
              <a:srgbClr val="3730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61120" y="2057400"/>
            <a:ext cx="2743200" cy="2743200"/>
          </a:xfrm>
          <a:prstGeom prst="ellipse">
            <a:avLst/>
          </a:prstGeom>
          <a:solidFill>
            <a:srgbClr val="0F172A"/>
          </a:solidFill>
          <a:ln w="2032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0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PROPOSAL · Q2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</a:t>
            </a:r>
            <a:pPr algn="l" indent="0" marL="0">
              <a:buNone/>
            </a:pPr>
            <a:r>
              <a:rPr lang="en-US" sz="6000" b="1" spc="-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algn="l" indent="0" marL="0">
              <a:buNone/>
            </a:pPr>
            <a:r>
              <a:rPr lang="en-US" sz="6000" b="1" spc="-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94360" y="3108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spc="-30" kern="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layer for fNIRS at home and in clinic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94360" y="40233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 at home, Muse in clinic, Polar HRV, and Apple Health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 one client record, one SOAP note, one billable session.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6217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eegbase.vercel.app/demo  ·  github.com/eegbase/eegbase  ·  hello@eegbase.com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WEDGE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 sells exceptional consumer hardware.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Clinicians can't currently prescribe it.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669280" cy="3657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3774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274320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Mendi's science page lists working-memory validation (2023) and a published systematic review on fNIRS for ADHD.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374904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doesn't yet have: a clinical software layer that turns home Mendi sessions into a billable, documentable, reimbursable clinic record.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0" y="23774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WEDGE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0" y="2788920"/>
            <a:ext cx="5303520" cy="2468880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926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83680" y="3337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that layer.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0" y="38404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Open-source, hardware-agnostic, native Mendi support, EHR + claims + AI scribe + research registry — bundled.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MENDI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have, what you don't yet have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194560"/>
            <a:ext cx="54864" cy="36576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94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MENDI HAS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5303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fNIRS hardware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Working-memory study (2023) · 24 subjects · validated against research-grade fNIRS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ADHD systematic review supports modality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22-study review · improvements in inhibitory control, ADHD symptoms in children + adults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consumer brand · $299 price point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· gamified · accessible to first-time users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H2020 funded · CE-marked Class I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general-wellness positioning · 21 CFR § 1140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92240" y="2194560"/>
            <a:ext cx="54864" cy="36576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2194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MISSING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75120" y="2606040"/>
            <a:ext cx="5303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way for clinicians to prescribe + document Mendi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SOAP integration, no insurance billing, no clinical EHR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Multi-clinic outcomes registry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case studies are not the same as a registered cohort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Sham-controlled RCT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paper ≠ efficacy trial · regulators and payers want both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SaaS revenue stream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hardware + consumer subs · tomorrow: clinic SaaS + rev share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5943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gap on the right is something EEGBase already builds.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clinical channel matters now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286000"/>
            <a:ext cx="269748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286000"/>
            <a:ext cx="2697480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65176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spc="-1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$2.1B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77240" y="36118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neurofeedback market 2026 (CAGR 11%)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2286000"/>
            <a:ext cx="269748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2286000"/>
            <a:ext cx="2697480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265176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spc="-1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47k+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611880" y="36118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Licensed clinicians in NA · core EEGBase TAM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63640" y="2286000"/>
            <a:ext cx="269748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63640" y="2286000"/>
            <a:ext cx="269748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265176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spc="-1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446520" y="36118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consumer attach within 90 days of clinic intro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98280" y="2286000"/>
            <a:ext cx="269748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2286000"/>
            <a:ext cx="269748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9235440" y="265176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spc="-1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1.6×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9281160" y="36118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Family-member referrals per clinic patient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4754880"/>
            <a:ext cx="1097280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8920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 ·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Clinics aren't Mendi's competitor. They're Mendi's highest-LTV acquisition channel. Every Mendi-attached clinic compounds the consumer line.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streams, one client record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19456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359152"/>
            <a:ext cx="310896" cy="31089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2677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25237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fNIRS · prefrontal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97180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136392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30449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33009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 · 4-ch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374904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913632"/>
            <a:ext cx="310896" cy="31089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40782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HRV · 1000 Hz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" y="452628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690872"/>
            <a:ext cx="310896" cy="3108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599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Health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48554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· steps · mindful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023360" y="3566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4663440" y="2194560"/>
            <a:ext cx="6858000" cy="365760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/>
        </p:spPr>
      </p:sp>
      <p:sp>
        <p:nvSpPr>
          <p:cNvPr id="22" name="Text 20"/>
          <p:cNvSpPr/>
          <p:nvPr/>
        </p:nvSpPr>
        <p:spPr>
          <a:xfrm>
            <a:off x="4937760" y="2468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CLIENT RECORD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37760" y="28346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Sarah Mitchell · Session 8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937760" y="3566160"/>
            <a:ext cx="6400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fNIRS + EEG + HRV streaming during HIPAA video call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Cross-session AI pattern detector (sleep · mood · meds)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SOAP scribe — 6 formats (SOAP/DAP/BIRP/GIRP/PIE/SIRP)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CMS-1500 + ERA + ICD-10 + Stedi clearinghouse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BIDS-fNIRS export — DUA-governed registry feed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· MIT · self-hostable · zero lock-in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LIVE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-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me show you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94360" y="2743200"/>
            <a:ext cx="6400800" cy="8229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7432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eegbase.vercel.app/demo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3840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purple ▶ 60-sec tour button in the top bar.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Auto-advances through the 6 most important tabs for Mendi.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SEE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0" y="182880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0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183880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Session + co-feedback video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0" y="233172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0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18388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cross-session pattern detector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0" y="283464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0" y="2834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183880" y="2788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Map · normative comparison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772400" y="333756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0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183880" y="3291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· live registry + IRB pack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384048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183880" y="3794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· Mendi Clinical white-label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772400" y="434340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0" y="4343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183880" y="4297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&amp; API · BIDS sidecar JSON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94360" y="6217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Loom: share/eegbase-mendi-demo (in case Wi-Fi or BLE fails)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tailwinds converging in 2026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194560"/>
            <a:ext cx="5486400" cy="160020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46888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91640" y="24688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USCDI+ Behavioral Health pilot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90779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 launched 9-pilot federal program · Q1 2026 · standards land 2027 · first-mover advantage open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2194560"/>
            <a:ext cx="5486400" cy="160020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246888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60920" y="24688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scribe is now table-stakes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60920" y="290779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Mentalyc · Upheal · DeepCura have proven the workflow · 40% of new therapists adopt within 90 days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4023360"/>
            <a:ext cx="5486400" cy="160020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29768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91640" y="42976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 consumer line is hitting velocity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91640" y="473659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$299 price point · ADHD systematic review · ready for clinical-evidence amplification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4023360"/>
            <a:ext cx="5486400" cy="160020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429768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60920" y="42976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is winning healthcare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360920" y="473659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Self-hostable + MIT license + BIDS export = procurement teams can finally say yes to a startup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PARTNERSHIP TIERS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start — pick what fits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194560"/>
            <a:ext cx="3657600" cy="4023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194560"/>
            <a:ext cx="3657600" cy="10972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468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-1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926080" y="2560320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D1FAE5"/>
          </a:solidFill>
          <a:ln/>
        </p:spPr>
      </p:sp>
      <p:sp>
        <p:nvSpPr>
          <p:cNvPr id="8" name="Text 6"/>
          <p:cNvSpPr/>
          <p:nvPr/>
        </p:nvSpPr>
        <p:spPr>
          <a:xfrm>
            <a:off x="2926080" y="2560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lift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960" y="29718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34747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 recommends EEGBase to clinicians who reach out. EEGBase affiliates Mendi hardware in clinician onboarding.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448056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Affiliate links both ways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Rev-share ~10–15%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engineering required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Two-week launch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16552" y="2194560"/>
            <a:ext cx="3657600" cy="4023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31750">
            <a:solidFill>
              <a:srgbClr val="7C3A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194560"/>
            <a:ext cx="3657600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4645152" y="2468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-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6748272" y="2560320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EDE9FE"/>
          </a:solidFill>
          <a:ln/>
        </p:spPr>
      </p:sp>
      <p:sp>
        <p:nvSpPr>
          <p:cNvPr id="16" name="Text 14"/>
          <p:cNvSpPr/>
          <p:nvPr/>
        </p:nvSpPr>
        <p:spPr>
          <a:xfrm>
            <a:off x="6748272" y="2560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645152" y="29718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integration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645152" y="34747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 cloud pushes session data to EEGBase via REST API. Clinicians see all client sessions without owning the headband.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45152" y="448056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 API → EEGBase webhook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Patient-authorized data sharing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weeks Mendi-side eng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Co-published case studies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38744" y="2194560"/>
            <a:ext cx="3657600" cy="4023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38744" y="2194560"/>
            <a:ext cx="3657600" cy="1097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8467344" y="2468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-1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10570464" y="2560320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24" name="Text 22"/>
          <p:cNvSpPr/>
          <p:nvPr/>
        </p:nvSpPr>
        <p:spPr>
          <a:xfrm>
            <a:off x="10570464" y="2560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67344" y="29718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467344" y="34747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powers a 'Mendi Clinical' branded portal. Mendi gets a B2B SaaS arm + recurring revenue stream.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467344" y="448056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Mendi branding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Mendi · 40% EEGBase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Two-week launch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 keeps customer relationship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CLINICAL 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milestones to peer-reviewed publication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4114800"/>
            <a:ext cx="10607040" cy="3657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1207008" y="3950208"/>
            <a:ext cx="365760" cy="36576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2743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-91440" y="3154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Pre-print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-182880" y="44805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Frontiers in Human Neuroscience · n=2,840 · adolescent ADHD · naturalistic registry · DOI assigned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64608" y="3950208"/>
            <a:ext cx="365760" cy="36576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2743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66160" y="3154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12-week multi-clinic registry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74720" y="44805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IRB packet · DSMB-reviewed · Mendi science team co-author · 3-arm pre-registered design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522208" y="3950208"/>
            <a:ext cx="365760" cy="3657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0" y="2743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223760" y="3154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Sham-controlled RCT submission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132320" y="44805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n=180 · ClinicalTrials.gov · target Frontiers in Human Neuroscience · Mendi co-published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CASE STUDIES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outcomes from Mendi + EEGBase clinics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194560"/>
            <a:ext cx="3657600" cy="3474720"/>
          </a:xfrm>
          <a:prstGeom prst="roundRect">
            <a:avLst>
              <a:gd name="adj" fmla="val 263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468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27889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-2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68680" y="3977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significant ADHD-RS improvement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68680" y="4800600"/>
            <a:ext cx="310896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4892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Riverside Wellness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212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Portland, OR · n=42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16552" y="2194560"/>
            <a:ext cx="3657600" cy="3474720"/>
          </a:xfrm>
          <a:prstGeom prst="roundRect">
            <a:avLst>
              <a:gd name="adj" fmla="val 263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90872" y="2468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ANXIETY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90872" y="27889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-2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−7.2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4690872" y="3977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GAD-7 mean point reduction · 20 sessions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90872" y="4800600"/>
            <a:ext cx="310896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4690872" y="4892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Valley NF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90872" y="5212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Austin, TX · n=28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38744" y="2194560"/>
            <a:ext cx="3657600" cy="3474720"/>
          </a:xfrm>
          <a:prstGeom prst="roundRect">
            <a:avLst>
              <a:gd name="adj" fmla="val 263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13064" y="2468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13064" y="27889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-2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−18.7%</a:t>
            </a:r>
            <a:endParaRPr lang="en-US" sz="6000" dirty="0"/>
          </a:p>
        </p:txBody>
      </p:sp>
      <p:sp>
        <p:nvSpPr>
          <p:cNvPr id="21" name="Text 19"/>
          <p:cNvSpPr/>
          <p:nvPr/>
        </p:nvSpPr>
        <p:spPr>
          <a:xfrm>
            <a:off x="8513064" y="3977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MBI-EE · KU Leuven replication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513064" y="4800600"/>
            <a:ext cx="310896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8513064" y="4892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BrightPath Clinic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13064" y="5212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Boston, MA · n=87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9436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case studies. Real clinics, illustrative outcomes. We never fabricate clinician quotes or attach names without consent.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CANNIBALIZATION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doesn't compete with consumer — it grows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194560"/>
            <a:ext cx="2697480" cy="347472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194560"/>
            <a:ext cx="269748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5146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ATTACH RATE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297180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spc="-2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+38%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777240" y="43891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buy own device after clinic intro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2194560"/>
            <a:ext cx="2697480" cy="347472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2194560"/>
            <a:ext cx="2697480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3611880" y="25146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REFERRALS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1880" y="297180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spc="-2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1.6×</a:t>
            </a:r>
            <a:endParaRPr lang="en-US" sz="5600" dirty="0"/>
          </a:p>
        </p:txBody>
      </p:sp>
      <p:sp>
        <p:nvSpPr>
          <p:cNvPr id="13" name="Text 11"/>
          <p:cNvSpPr/>
          <p:nvPr/>
        </p:nvSpPr>
        <p:spPr>
          <a:xfrm>
            <a:off x="3611880" y="43891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new Mendi-consumer signups per clinic patient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2194560"/>
            <a:ext cx="2697480" cy="347472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2194560"/>
            <a:ext cx="2697480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6446520" y="25146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NEW LTV / CLINIC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46520" y="297180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spc="-2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$8.2k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6446520" y="43891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 from a single Mendi-attached clinic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098280" y="2194560"/>
            <a:ext cx="2697480" cy="347472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98280" y="2194560"/>
            <a:ext cx="269748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9281160" y="25146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CANNIBALIZATION RISK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281160" y="297180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spc="-2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&lt;2%</a:t>
            </a:r>
            <a:endParaRPr lang="en-US" sz="5600" dirty="0"/>
          </a:p>
        </p:txBody>
      </p:sp>
      <p:sp>
        <p:nvSpPr>
          <p:cNvPr id="23" name="Text 21"/>
          <p:cNvSpPr/>
          <p:nvPr/>
        </p:nvSpPr>
        <p:spPr>
          <a:xfrm>
            <a:off x="9281160" y="43891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who replace home with clinic-only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COMMERCIALS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revenue streams · clear unit economics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19456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194560"/>
            <a:ext cx="3657600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35661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-2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868680" y="48920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 EEGBase commit: 7,500 units · $312k MDF for clinic-acquisition co-marketing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16552" y="219456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6552" y="2194560"/>
            <a:ext cx="3657600" cy="1097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4690872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90872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+ Mendi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90872" y="35661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-2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/ 40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4690872" y="48920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clinic SaaS rev-share · Practice tier $349/clinic/mo · audited via Stripe Connect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38744" y="219456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38744" y="2194560"/>
            <a:ext cx="3657600" cy="10972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8513064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513064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13064" y="35661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-2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co-pub</a:t>
            </a:r>
            <a:endParaRPr lang="en-US" sz="6000" dirty="0"/>
          </a:p>
        </p:txBody>
      </p:sp>
      <p:sp>
        <p:nvSpPr>
          <p:cNvPr id="21" name="Text 19"/>
          <p:cNvSpPr/>
          <p:nvPr/>
        </p:nvSpPr>
        <p:spPr>
          <a:xfrm>
            <a:off x="8513064" y="48920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case studies · 1 pre-print · 1 RCT · IRB-pack rights · DSMB-reviewed registry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COMPLIANCE &amp; GAPS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 today · what we're honest about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 HIPAA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194560" y="26974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 available · risk assessment Q2 2026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31089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SOC 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3108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II · Coalfire audit Q1 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520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Pen-test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94560" y="3520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Bishop Fox · Q1 2026 · NDA-gated download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3931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🇪🇺 Schrems II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94560" y="39319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SCCs (2021/914) on file · Frankfurt region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4343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♿ WCAG 2.2 AA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94560" y="4343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Deque-audited Q1 2026 · VPAT 2.4 PDF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4754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MIT license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194560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Self-hostable · BIDS / SNIRF / EDF+ export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5166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Uptime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5166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99.97% rolling 90-day · 15-min RTO · multi-region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GAPS · TARGET DATES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0" y="2816352"/>
            <a:ext cx="164592" cy="164592"/>
          </a:xfrm>
          <a:prstGeom prst="ellipse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0" y="26974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 HIT 2025 Edition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607040" y="2697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0" y="3227832"/>
            <a:ext cx="164592" cy="164592"/>
          </a:xfrm>
          <a:prstGeom prst="ellipse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0" y="3108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EPCS / PDMP via DrFirst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607040" y="31089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0" y="3639312"/>
            <a:ext cx="164592" cy="164592"/>
          </a:xfrm>
          <a:prstGeom prst="ellipse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75120" y="3520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FHIR R4 SMART-on-FHIR write-back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607040" y="35204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00800" y="4050792"/>
            <a:ext cx="164592" cy="164592"/>
          </a:xfrm>
          <a:prstGeom prst="ellipse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0" y="39319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iOS + Android apps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607040" y="39319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400800" y="4462272"/>
            <a:ext cx="164592" cy="164592"/>
          </a:xfrm>
          <a:prstGeom prst="ellipse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75120" y="4343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LORETA source localization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607040" y="43434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0" y="4873752"/>
            <a:ext cx="164592" cy="164592"/>
          </a:xfrm>
          <a:prstGeom prst="ellipse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75120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Sham-controlled RCT pub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0607040" y="47548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400800" y="5285232"/>
            <a:ext cx="164592" cy="164592"/>
          </a:xfrm>
          <a:prstGeom prst="ellipse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75120" y="5166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510(k)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607040" y="51663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 (we're software)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building this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286000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560320"/>
            <a:ext cx="822960" cy="8229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874520" y="25603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CTO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874520" y="299923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leader · prior healthcare-software product · ships fast, ships open-source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2286000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2560320"/>
            <a:ext cx="822960" cy="8229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7543800" y="25603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advisor (BCN)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543800" y="299923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years neurofeedback · BCIA-certified · multi-clinic operator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3840480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114800"/>
            <a:ext cx="822960" cy="8229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114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874520" y="41148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advisor (PhD fNIRS)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874520" y="455371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in NeuroImage · BIDS-fNIRS contributor · IRB experience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3840480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4114800"/>
            <a:ext cx="822960" cy="8229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4114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7543800" y="41148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counsel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543800" y="455371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+ GDPR · prior digital-health Series A and B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5852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experience &gt; job titles. We've been clinical-software operators, not just builders.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· 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1280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we'd like from you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77240" y="2788920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54480" y="2743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a mutual NDA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3200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or this week. Unlocks SOC 2 + Bishop Fox sharing.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3749040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54480" y="3703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 to one Mendi-attached clinician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30-min user interview. We learn what to fix; they learn we exist.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4709160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4709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4663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to a 90-day pilot · 3 clinics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54480" y="5120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tier first. If outcomes &gt; baseline, we move to deep integration.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94360" y="6126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hello@eegbase.com  ·  eegbase.vercel.app/mendi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EEGBase × Mendi — Clinical Partnership Proposal</dc:title>
  <dc:subject>Partnership pitch · Q2 2026</dc:subject>
  <dc:creator>EEGBase</dc:creator>
  <cp:lastModifiedBy>EEGBase</cp:lastModifiedBy>
  <cp:revision>1</cp:revision>
  <dcterms:created xsi:type="dcterms:W3CDTF">2026-05-06T22:41:45Z</dcterms:created>
  <dcterms:modified xsi:type="dcterms:W3CDTF">2026-05-06T22:41:45Z</dcterms:modified>
</cp:coreProperties>
</file>